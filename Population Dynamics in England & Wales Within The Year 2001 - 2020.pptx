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Population (millions)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England &amp; Wales</c:v>
                </c:pt>
              </c:strCache>
            </c:strRef>
          </c:tx>
          <c:spPr>
            <a:ln w="31750" cap="flat">
              <a:solidFill>
                <a:srgbClr val="0A234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2342"/>
              </a:solidFill>
              <a:ln w="9525" cap="flat">
                <a:solidFill>
                  <a:srgbClr val="0A234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2001</c:v>
                </c:pt>
                <c:pt idx="1">
                  <c:v>2003</c:v>
                </c:pt>
                <c:pt idx="2">
                  <c:v>2005</c:v>
                </c:pt>
                <c:pt idx="3">
                  <c:v>2007</c:v>
                </c:pt>
                <c:pt idx="4">
                  <c:v>2009</c:v>
                </c:pt>
                <c:pt idx="5">
                  <c:v>2011</c:v>
                </c:pt>
                <c:pt idx="6">
                  <c:v>2013</c:v>
                </c:pt>
                <c:pt idx="7">
                  <c:v>2015</c:v>
                </c:pt>
                <c:pt idx="8">
                  <c:v>2017</c:v>
                </c:pt>
                <c:pt idx="9">
                  <c:v>2019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52.4</c:v>
                </c:pt>
                <c:pt idx="1">
                  <c:v>52.9</c:v>
                </c:pt>
                <c:pt idx="2">
                  <c:v>53.6</c:v>
                </c:pt>
                <c:pt idx="3">
                  <c:v>54.4</c:v>
                </c:pt>
                <c:pt idx="4">
                  <c:v>55.2</c:v>
                </c:pt>
                <c:pt idx="5">
                  <c:v>56.2</c:v>
                </c:pt>
                <c:pt idx="6">
                  <c:v>56.9</c:v>
                </c:pt>
                <c:pt idx="7">
                  <c:v>57.9</c:v>
                </c:pt>
                <c:pt idx="8">
                  <c:v>58.7</c:v>
                </c:pt>
                <c:pt idx="9">
                  <c:v>59.4</c:v>
                </c:pt>
                <c:pt idx="10">
                  <c:v>59.7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52B-4D5D-B876-007BB6BAF2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England</c:v>
                </c:pt>
              </c:strCache>
            </c:strRef>
          </c:tx>
          <c:spPr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2001</c:v>
                </c:pt>
                <c:pt idx="1">
                  <c:v>2003</c:v>
                </c:pt>
                <c:pt idx="2">
                  <c:v>2005</c:v>
                </c:pt>
                <c:pt idx="3">
                  <c:v>2007</c:v>
                </c:pt>
                <c:pt idx="4">
                  <c:v>2009</c:v>
                </c:pt>
                <c:pt idx="5">
                  <c:v>2011</c:v>
                </c:pt>
                <c:pt idx="6">
                  <c:v>2013</c:v>
                </c:pt>
                <c:pt idx="7">
                  <c:v>2015</c:v>
                </c:pt>
                <c:pt idx="8">
                  <c:v>2017</c:v>
                </c:pt>
                <c:pt idx="9">
                  <c:v>2019</c:v>
                </c:pt>
                <c:pt idx="10">
                  <c:v>2020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49.4</c:v>
                </c:pt>
                <c:pt idx="1">
                  <c:v>49.9</c:v>
                </c:pt>
                <c:pt idx="2">
                  <c:v>50.6</c:v>
                </c:pt>
                <c:pt idx="3">
                  <c:v>51.4</c:v>
                </c:pt>
                <c:pt idx="4">
                  <c:v>52.2</c:v>
                </c:pt>
                <c:pt idx="5">
                  <c:v>53.1</c:v>
                </c:pt>
                <c:pt idx="6">
                  <c:v>53.9</c:v>
                </c:pt>
                <c:pt idx="7">
                  <c:v>54.8</c:v>
                </c:pt>
                <c:pt idx="8">
                  <c:v>55.5</c:v>
                </c:pt>
                <c:pt idx="9">
                  <c:v>56.3</c:v>
                </c:pt>
                <c:pt idx="10">
                  <c:v>56.6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52B-4D5D-B876-007BB6BAF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"/>
          <c:min val="4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</a:rPr>
              <a:t>Test-set MAE &amp; RMSE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OLS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2.59</c:v>
                </c:pt>
                <c:pt idx="1">
                  <c:v>3.04</c:v>
                </c:pt>
                <c:pt idx="2">
                  <c:v>2.77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0E-42D6-86CF-073F80112C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OLS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3.81</c:v>
                </c:pt>
                <c:pt idx="1">
                  <c:v>3.65</c:v>
                </c:pt>
                <c:pt idx="2">
                  <c:v>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0E-42D6-86CF-073F80112C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</a:rPr>
              <a:t>Test-set R²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R-squared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OLS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0.749</c:v>
                </c:pt>
                <c:pt idx="1">
                  <c:v>0.73499999999999999</c:v>
                </c:pt>
                <c:pt idx="2">
                  <c:v>0.76100000000000001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FA-42CF-A59C-511FBF9F8D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8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0.80300000000000005</c:v>
                </c:pt>
                <c:pt idx="1">
                  <c:v>0.75800000000000001</c:v>
                </c:pt>
                <c:pt idx="2">
                  <c:v>0.379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3-4B13-9F55-05E90A0EB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</c:v>
                </c:pt>
                <c:pt idx="1">
                  <c:v>0.75800000000000001</c:v>
                </c:pt>
                <c:pt idx="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13-4B13-9F55-05E90A0EBE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5D24D-78DD-4A2D-9C44-4717BD2CD4E6}" type="datetimeFigureOut"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BA743-F14E-46CC-84AD-F3635918FD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7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B6CA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011680"/>
            <a:ext cx="2926080" cy="29260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54864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Population Dynamics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</a:rPr>
              <a:t>England &amp; Wales, 2001–2020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1"/>
                </a:solidFill>
              </a:rPr>
              <a:t>A Demographic Data Analytics Study  </a:t>
            </a:r>
            <a:endParaRPr lang="en-US" sz="1300" dirty="0">
              <a:solidFill>
                <a:srgbClr val="8FA3B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160520"/>
            <a:ext cx="9144000" cy="987552"/>
          </a:xfrm>
          <a:prstGeom prst="rect">
            <a:avLst/>
          </a:prstGeom>
          <a:solidFill>
            <a:srgbClr val="1B6CA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4187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331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4562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Local Authorities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4187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2001–2020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4562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19 Years of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187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14.1%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4562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Population Growth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41879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3 Datasets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45628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MYEB1 · MYEB2 · MYEB3</a:t>
            </a:r>
            <a:endParaRPr lang="en-US" sz="1000" dirty="0"/>
          </a:p>
        </p:txBody>
      </p:sp>
      <p:sp>
        <p:nvSpPr>
          <p:cNvPr id="17" name="Text 5"/>
          <p:cNvSpPr/>
          <p:nvPr/>
        </p:nvSpPr>
        <p:spPr>
          <a:xfrm>
            <a:off x="640080" y="293522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smtClean="0">
                <a:solidFill>
                  <a:srgbClr val="8FA3B1"/>
                </a:solidFill>
              </a:rPr>
              <a:t>Authored By : Hakeem </a:t>
            </a:r>
            <a:r>
              <a:rPr lang="en-US" sz="1300" dirty="0" err="1" smtClean="0">
                <a:solidFill>
                  <a:srgbClr val="8FA3B1"/>
                </a:solidFill>
              </a:rPr>
              <a:t>Ololade</a:t>
            </a:r>
            <a:r>
              <a:rPr lang="en-US" sz="1300" dirty="0" smtClean="0">
                <a:solidFill>
                  <a:srgbClr val="8FA3B1"/>
                </a:solidFill>
              </a:rPr>
              <a:t> </a:t>
            </a:r>
            <a:r>
              <a:rPr lang="en-US" sz="1300" dirty="0" err="1" smtClean="0">
                <a:solidFill>
                  <a:srgbClr val="8FA3B1"/>
                </a:solidFill>
              </a:rPr>
              <a:t>Safiriyu</a:t>
            </a:r>
            <a:r>
              <a:rPr lang="en-US" sz="1300" dirty="0" smtClean="0">
                <a:solidFill>
                  <a:srgbClr val="8FA3B1"/>
                </a:solidFill>
              </a:rPr>
              <a:t>  </a:t>
            </a:r>
            <a:endParaRPr lang="en-US" sz="1300" dirty="0">
              <a:solidFill>
                <a:srgbClr val="8FA3B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1.  Data Cleaning &amp; Integration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"/>
            <a:ext cx="493776" cy="493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2697480" cy="155448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9692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MYEB1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1148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68,068 rows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26974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Population estimates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by age &amp; sex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(supporting reference)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97480" cy="155448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9692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MYEB2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9184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60,242 rows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0" y="1554480"/>
            <a:ext cx="26974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Full demographic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components </a:t>
            </a:r>
            <a:r>
              <a:rPr lang="en-US" sz="1050" dirty="0" smtClean="0">
                <a:solidFill>
                  <a:srgbClr val="FFFFFF"/>
                </a:solidFill>
              </a:rPr>
              <a:t>- </a:t>
            </a:r>
            <a:r>
              <a:rPr lang="en-US" sz="1050" dirty="0">
                <a:solidFill>
                  <a:srgbClr val="FFFFFF"/>
                </a:solidFill>
              </a:rPr>
              <a:t>births,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deaths, migration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(main dataset)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914400"/>
            <a:ext cx="2697480" cy="155448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9692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MYEB3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7220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374 rows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1554480"/>
            <a:ext cx="26974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Summary components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(validation benchmark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against MYEB2)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1480" y="2578608"/>
            <a:ext cx="8321040" cy="365760"/>
          </a:xfrm>
          <a:prstGeom prst="rect">
            <a:avLst/>
          </a:prstGeom>
          <a:solidFill>
            <a:srgbClr val="1A6B4A">
              <a:alpha val="8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596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Cross-validation: MYEB2 aggregated vs MYEB3 </a:t>
            </a:r>
            <a:r>
              <a:rPr lang="en-US" sz="1100" b="1" dirty="0" smtClean="0">
                <a:solidFill>
                  <a:srgbClr val="FFFFFF"/>
                </a:solidFill>
              </a:rPr>
              <a:t>- </a:t>
            </a:r>
            <a:r>
              <a:rPr lang="en-US" sz="1100" b="1" dirty="0">
                <a:solidFill>
                  <a:srgbClr val="FFFFFF"/>
                </a:solidFill>
              </a:rPr>
              <a:t>zero absolute differences across all 19 years and 5 variables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035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Key Cleaning Decisions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" y="3337560"/>
            <a:ext cx="832104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Sex recoded: integer codes 1 &amp; 2  →  'Male' / 'Female' using case_when()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Wide → Long reshape: 60,242 × 225 columns  →  1,204,840-row panel via pivot_longer()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Year 2001 rate variables set to NA </a:t>
            </a:r>
            <a:r>
              <a:rPr lang="en-US" sz="1150" dirty="0" smtClean="0">
                <a:solidFill>
                  <a:srgbClr val="1A1A2E"/>
                </a:solidFill>
              </a:rPr>
              <a:t>- </a:t>
            </a:r>
            <a:r>
              <a:rPr lang="en-US" sz="1150" dirty="0">
                <a:solidFill>
                  <a:srgbClr val="1A1A2E"/>
                </a:solidFill>
              </a:rPr>
              <a:t>no prior-year population denominator exists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Outliers retained: e.g. City of London (48.6% growth, population 7,359) </a:t>
            </a:r>
            <a:r>
              <a:rPr lang="en-US" sz="1150" dirty="0" smtClean="0">
                <a:solidFill>
                  <a:srgbClr val="1A1A2E"/>
                </a:solidFill>
              </a:rPr>
              <a:t>- </a:t>
            </a:r>
            <a:r>
              <a:rPr lang="en-US" sz="1150" dirty="0">
                <a:solidFill>
                  <a:srgbClr val="1A1A2E"/>
                </a:solidFill>
              </a:rPr>
              <a:t>genuine demographic reality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Unattrib variable: structural gap from 2012 onward handled using na.rm = TRUE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2.  Descriptive Analytics – Key Findings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"/>
            <a:ext cx="493776" cy="493776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411480" y="9144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11480" y="3913632"/>
            <a:ext cx="5029200" cy="438912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39319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Growth accelerated 2004–2010 following EU expansion — then slowed post-2017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669280" y="914400"/>
            <a:ext cx="3017520" cy="777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69280" y="987552"/>
            <a:ext cx="30175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14.1%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669280" y="1341882"/>
            <a:ext cx="30175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Total growth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(England &amp; Wales)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669280" y="1764792"/>
            <a:ext cx="3017520" cy="7772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669280" y="1837944"/>
            <a:ext cx="30175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14.4%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5669280" y="2192274"/>
            <a:ext cx="30175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England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growth rate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0" y="2615184"/>
            <a:ext cx="3017520" cy="777240"/>
          </a:xfrm>
          <a:prstGeom prst="rect">
            <a:avLst/>
          </a:prstGeom>
          <a:solidFill>
            <a:srgbClr val="1A6B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669280" y="2688336"/>
            <a:ext cx="30175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8.9%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5669280" y="3042666"/>
            <a:ext cx="30175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Wales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growth rate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3465576"/>
            <a:ext cx="3017520" cy="777240"/>
          </a:xfrm>
          <a:prstGeom prst="rect">
            <a:avLst/>
          </a:prstGeom>
          <a:solidFill>
            <a:srgbClr val="B850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669280" y="3538728"/>
            <a:ext cx="30175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56.6%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669280" y="3893058"/>
            <a:ext cx="30175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Growth from net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int’l migration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11480" y="4416552"/>
            <a:ext cx="83210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48640" y="4453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</a:rPr>
              <a:t>Demographic Typology – 331 Local Authorities: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" y="4700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</a:rPr>
              <a:t>182 LAs (55%)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02920" y="48828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Dual Growth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2587752" y="4700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</a:rPr>
              <a:t>105 LAs (32%)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587752" y="48828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Migration Offsets Natural Decline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672584" y="4700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</a:rPr>
              <a:t>41 LAs (12%)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672584" y="48828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Natural Growth Offsets Out-migration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757416" y="4700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CA8"/>
                </a:solidFill>
              </a:rPr>
              <a:t>3 LAs (1%)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757416" y="48828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</a:rPr>
              <a:t>Dual Decline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3.  Hypothesis Testing – 9 Formal Tests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"/>
            <a:ext cx="493776" cy="493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8321040" cy="402336"/>
          </a:xfrm>
          <a:prstGeom prst="rect">
            <a:avLst/>
          </a:prstGeom>
          <a:solidFill>
            <a:srgbClr val="1A6B4A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9326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✓  8 of 9 tests rejected H₀  </a:t>
            </a:r>
            <a:r>
              <a:rPr lang="en-US" sz="1150" b="1" dirty="0" smtClean="0">
                <a:solidFill>
                  <a:srgbClr val="FFFFFF"/>
                </a:solidFill>
              </a:rPr>
              <a:t>-  </a:t>
            </a:r>
            <a:r>
              <a:rPr lang="en-US" sz="1150" b="1" dirty="0">
                <a:solidFill>
                  <a:srgbClr val="FFFFFF"/>
                </a:solidFill>
              </a:rPr>
              <a:t>Only Test 8 (country vs growth driver, χ² = 0.221, p = 0.638) was non-significant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89888"/>
          <a:ext cx="7726680" cy="368808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 rates: England vs Wales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12.75,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 rates: England vs Wales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−21.84,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totals by 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69.83,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migration by 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t-test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−5.02,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rate across growth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+ Tukey HSD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F(2,328) = 25.20,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ratio across growth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F(2,328) = 20.81,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ratio (non-parametric check)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Kruskal-Wallis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χ²(2) = 36.18, 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vs main growth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χ²(1) = 0.221, p = 0.638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predictors of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&amp; Spearman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 r = −0.535; Migration r = 0.483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4.  Predictive Modelling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"/>
            <a:ext cx="493776" cy="493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914400"/>
            <a:ext cx="8321040" cy="402336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9326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💡  Key modelling insight: migration rate, death rate and birth rate were the strongest recurring predictors across all models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11480" y="14081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Regression – target: population growth rate 2001–2020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691640"/>
          <a:ext cx="411480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617720" y="1691640"/>
          <a:ext cx="4114800" cy="171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0" y="3474720"/>
            <a:ext cx="9144000" cy="18288"/>
          </a:xfrm>
          <a:prstGeom prst="rect">
            <a:avLst/>
          </a:prstGeom>
          <a:solidFill>
            <a:srgbClr val="D0D8E4"/>
          </a:solidFill>
          <a:ln/>
        </p:spPr>
      </p:sp>
      <p:sp>
        <p:nvSpPr>
          <p:cNvPr id="11" name="Text 6"/>
          <p:cNvSpPr/>
          <p:nvPr/>
        </p:nvSpPr>
        <p:spPr>
          <a:xfrm>
            <a:off x="411480" y="35387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Classification – target: Low / Medium / High growth class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897880" y="3538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Clustering – k-means, k = 4</a:t>
            </a:r>
            <a:endParaRPr lang="en-US" sz="1200" dirty="0"/>
          </a:p>
        </p:txBody>
      </p:sp>
      <p:graphicFrame>
        <p:nvGraphicFramePr>
          <p:cNvPr id="13" name="Chart 2"/>
          <p:cNvGraphicFramePr/>
          <p:nvPr/>
        </p:nvGraphicFramePr>
        <p:xfrm>
          <a:off x="411480" y="3822192"/>
          <a:ext cx="5120640" cy="1207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3822192"/>
          <a:ext cx="2834640" cy="1371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n=132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Low-growth Suburban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High-growth Urban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n=83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Ageing High-Dependency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1B6CA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C39A"/>
                </a:solidFill>
              </a:rPr>
              <a:t>5.  Conclusions &amp; Critical Evaluation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2743200" cy="2487168"/>
          </a:xfrm>
          <a:prstGeom prst="rect">
            <a:avLst/>
          </a:prstGeom>
          <a:solidFill>
            <a:srgbClr val="1B6CA8">
              <a:alpha val="4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9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578608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52.4M → 59.7M total growth (14.1%)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England grew ∼1.6× faster than Wales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Migration drove 56.6% of total growth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8 of 9 hypothesis tests rejected H₀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804672"/>
            <a:ext cx="2743200" cy="2487168"/>
          </a:xfrm>
          <a:prstGeom prst="rect">
            <a:avLst/>
          </a:prstGeom>
          <a:solidFill>
            <a:srgbClr val="1B6CA8">
              <a:alpha val="4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859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64992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Best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572768"/>
            <a:ext cx="2578608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Regression: OLS best MAE (2.59)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Clustering: 4 clear demographic typologies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Classification: Logistic Reg. best (80.3%)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Migration rate = dominant predictor across all models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804672"/>
            <a:ext cx="2743200" cy="2487168"/>
          </a:xfrm>
          <a:prstGeom prst="rect">
            <a:avLst/>
          </a:prstGeom>
          <a:solidFill>
            <a:srgbClr val="1B6CA8">
              <a:alpha val="4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859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72784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Tool Evaluation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64224" y="1572768"/>
            <a:ext cx="2578608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ggplot2: flexible &amp; reproducible, but static output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tidyverse: clean, modular, readable pipeline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RF overfitted (train R² 0.97 vs test 0.74, n=267)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Logistic Reg. outperformed ensemble methods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206240" cy="1572768"/>
          </a:xfrm>
          <a:prstGeom prst="rect">
            <a:avLst/>
          </a:prstGeom>
          <a:solidFill>
            <a:srgbClr val="1A6B4A">
              <a:alpha val="4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34290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Strengths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730752"/>
            <a:ext cx="39867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Zero-difference cross-validation between MYEB2 and MYEB3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All 3 required technique types implemented and compared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Modular, annotated R pipeline </a:t>
            </a:r>
            <a:r>
              <a:rPr lang="en-US" sz="1050" dirty="0" smtClean="0">
                <a:solidFill>
                  <a:srgbClr val="FFFFFF"/>
                </a:solidFill>
              </a:rPr>
              <a:t>- </a:t>
            </a:r>
            <a:r>
              <a:rPr lang="en-US" sz="1050" dirty="0">
                <a:solidFill>
                  <a:srgbClr val="FFFFFF"/>
                </a:solidFill>
              </a:rPr>
              <a:t>fully reproducible with set.seed(42)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3383280"/>
            <a:ext cx="3749040" cy="1572768"/>
          </a:xfrm>
          <a:prstGeom prst="rect">
            <a:avLst/>
          </a:prstGeom>
          <a:solidFill>
            <a:srgbClr val="B85042">
              <a:alpha val="4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7488" y="34290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DD2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47488" y="3730752"/>
            <a:ext cx="35295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XGBoost classification may reflect a possible encoding/tuning issue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Small training set (n=267) limits ensemble model generalisation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spatial modelling </a:t>
            </a:r>
            <a:r>
              <a:rPr lang="en-US" sz="1050" dirty="0" smtClean="0">
                <a:solidFill>
                  <a:srgbClr val="FFFFFF"/>
                </a:solidFill>
              </a:rPr>
              <a:t>- </a:t>
            </a:r>
            <a:r>
              <a:rPr lang="en-US" sz="1050" dirty="0">
                <a:solidFill>
                  <a:srgbClr val="FFFFFF"/>
                </a:solidFill>
              </a:rPr>
              <a:t>geographic patterns unaccounted for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743</Words>
  <Application>Microsoft Office PowerPoint</Application>
  <PresentationFormat>On-screen Show (16:9)</PresentationFormat>
  <Paragraphs>167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CT7202 – Population Dynamics in England and Wales</dc:title>
  <dc:subject>PptxGenJS Presentation</dc:subject>
  <dc:creator>PptxGenJS</dc:creator>
  <cp:lastModifiedBy>HAKEEM SAFIRIYU</cp:lastModifiedBy>
  <cp:revision>3</cp:revision>
  <dcterms:created xsi:type="dcterms:W3CDTF">2026-05-29T01:45:16Z</dcterms:created>
  <dcterms:modified xsi:type="dcterms:W3CDTF">2026-08-02T10:43:11Z</dcterms:modified>
</cp:coreProperties>
</file>